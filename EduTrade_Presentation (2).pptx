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 xmlns="">
        <p14:section name="Introduction" id="{c4ef5617-c935-0ef0-7dd2-4a9b52766fdb}">
          <p14:sldIdLst>
            <p14:sldId id="256"/>
          </p14:sldIdLst>
        </p14:section>
        <p14:section name="Context" id="{287cedb0-1331-e11d-6489-5b8bc02c505f}">
          <p14:sldIdLst>
            <p14:sldId id="257"/>
            <p14:sldId id="258"/>
            <p14:sldId id="259"/>
          </p14:sldIdLst>
        </p14:section>
        <p14:section name="The Product" id="{4bfe0436-8b9f-aec5-eaea-011d07aa0447}">
          <p14:sldIdLst>
            <p14:sldId id="260"/>
            <p14:sldId id="261"/>
            <p14:sldId id="262"/>
          </p14:sldIdLst>
        </p14:section>
        <p14:section name="Flow and Impact" id="{383f6302-abd4-6a99-ed8b-776013c6fe4a}">
          <p14:sldIdLst>
            <p14:sldId id="263"/>
            <p14:sldId id="264"/>
            <p14:sldId id="265"/>
          </p14:sldIdLst>
        </p14:section>
        <p14:section name="Close" id="{75584434-b551-8723-3edb-9b6316008e53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-564" y="-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EduTrade is a student-focused e-commerce platform where students can buy and sell books, lab equipment, electronics and other study essentials.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problem: study material is costly, reusable items are wasted, and there is no trusted student-only marketplace.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EduTrade focuses on categories students actually use: book materials, electronics, lab equipment and notebooks.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features visible in the current website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home page: a green navigation bar, hero banner and category cards.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Featured products and the product grid.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seller dashboard (My Products) and the shopping cart.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simple journeys: buyers discover and order; sellers list and manage.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Benefits for both sides of the marketplace.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Planned enhancements.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2011680"/>
            <a:ext cx="56692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640080" y="3931920"/>
            <a:ext cx="53949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EduTrade  ·  Buy Smart. Sell Easy.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F6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pPr algn="r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2743200"/>
            <a:ext cx="108813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marL="0" indent="0" algn="ctr">
              <a:buNone/>
            </a:pPr>
            <a:endParaRPr lang="en-US" sz="54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640080" y="4023360"/>
            <a:ext cx="108813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000" dirty="0">
                <a:solidFill>
                  <a:schemeClr val="accent2"/>
                </a:solidFill>
              </a:defRPr>
            </a:lvl1pPr>
          </a:lstStyle>
          <a:p>
            <a:pPr marL="0" indent="0" algn="ctr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F6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pPr algn="r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EduTrad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"/>
            <a:ext cx="3474720" cy="857009"/>
          </a:xfrm>
          <a:prstGeom prst="rect">
            <a:avLst/>
          </a:prstGeom>
        </p:spPr>
      </p:pic>
      <p:sp>
        <p:nvSpPr>
          <p:cNvPr id="3" name="Text 1"/>
          <p:cNvSpPr>
            <a:spLocks noGrp="1"/>
          </p:cNvSpPr>
          <p:nvPr>
            <p:ph type="title" idx="101"/>
          </p:nvPr>
        </p:nvSpPr>
        <p:spPr>
          <a:xfrm>
            <a:off x="640080" y="2011680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A Student E-Commerce Platform</a:t>
            </a:r>
            <a:endParaRPr lang="en-US" sz="4400" dirty="0"/>
          </a:p>
        </p:txBody>
      </p:sp>
      <p:sp>
        <p:nvSpPr>
          <p:cNvPr id="4" name="Text 1"/>
          <p:cNvSpPr>
            <a:spLocks noGrp="1"/>
          </p:cNvSpPr>
          <p:nvPr>
            <p:ph type="body" idx="102"/>
          </p:nvPr>
        </p:nvSpPr>
        <p:spPr>
          <a:xfrm>
            <a:off x="640080" y="393192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bg1"/>
                </a:solidFill>
              </a:rPr>
              <a:t>Buy and sell books, lab equipment, electronics and more, easily and affordably.</a:t>
            </a:r>
            <a:endParaRPr lang="en-US" sz="1800" dirty="0"/>
          </a:p>
        </p:txBody>
      </p:sp>
      <p:sp>
        <p:nvSpPr>
          <p:cNvPr id="5" name="Accent tab"/>
          <p:cNvSpPr/>
          <p:nvPr/>
        </p:nvSpPr>
        <p:spPr>
          <a:xfrm>
            <a:off x="6903720" y="1965960"/>
            <a:ext cx="4846320" cy="2423160"/>
          </a:xfrm>
          <a:prstGeom prst="roundRect">
            <a:avLst>
              <a:gd name="adj" fmla="val 4528"/>
            </a:avLst>
          </a:prstGeom>
          <a:solidFill>
            <a:schemeClr val="accent2"/>
          </a:solidFill>
          <a:ln/>
        </p:spPr>
      </p:sp>
      <p:sp>
        <p:nvSpPr>
          <p:cNvPr id="6" name="Home page screenshot frame"/>
          <p:cNvSpPr/>
          <p:nvPr/>
        </p:nvSpPr>
        <p:spPr>
          <a:xfrm>
            <a:off x="6629400" y="1691640"/>
            <a:ext cx="4846320" cy="2424277"/>
          </a:xfrm>
          <a:prstGeom prst="roundRect">
            <a:avLst>
              <a:gd name="adj" fmla="val 4526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7" name="Home page screenshot" descr="Home page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1828800"/>
            <a:ext cx="4572000" cy="2149957"/>
          </a:xfrm>
          <a:prstGeom prst="rect">
            <a:avLst/>
          </a:prstGeom>
        </p:spPr>
      </p:pic>
      <p:sp>
        <p:nvSpPr>
          <p:cNvPr id="8" name="Student details"/>
          <p:cNvSpPr txBox="1"/>
          <p:nvPr/>
        </p:nvSpPr>
        <p:spPr>
          <a:xfrm>
            <a:off x="640080" y="5120640"/>
            <a:ext cx="5394960" cy="914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bg1"/>
                </a:solidFill>
              </a:rPr>
              <a:t>Name: Uthaya Kumar M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chemeClr val="bg1"/>
                </a:solidFill>
              </a:rPr>
              <a:t>Reg. No: 950523205056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Why students need a better way</a:t>
            </a:r>
            <a:endParaRPr lang="en-US" sz="3600" dirty="0"/>
          </a:p>
        </p:txBody>
      </p:sp>
      <p:sp>
        <p:nvSpPr>
          <p:cNvPr id="3" name="Problem card 1"/>
          <p:cNvSpPr/>
          <p:nvPr/>
        </p:nvSpPr>
        <p:spPr>
          <a:xfrm>
            <a:off x="548640" y="1645920"/>
            <a:ext cx="3520440" cy="356616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" name="Study costs add up icon badge"/>
          <p:cNvSpPr/>
          <p:nvPr/>
        </p:nvSpPr>
        <p:spPr>
          <a:xfrm>
            <a:off x="868680" y="19659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Study costs add up icon" descr="Study costs add up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21717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30175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Study costs add up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56616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New textbooks, workbooks and lab kits are expensive, and most are needed for just one semester or year.</a:t>
            </a:r>
            <a:endParaRPr lang="en-US" sz="1600" dirty="0"/>
          </a:p>
        </p:txBody>
      </p:sp>
      <p:sp>
        <p:nvSpPr>
          <p:cNvPr id="8" name="Problem card 2"/>
          <p:cNvSpPr/>
          <p:nvPr/>
        </p:nvSpPr>
        <p:spPr>
          <a:xfrm>
            <a:off x="4297680" y="1645920"/>
            <a:ext cx="3520440" cy="356616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Useful items go unused icon badge"/>
          <p:cNvSpPr/>
          <p:nvPr/>
        </p:nvSpPr>
        <p:spPr>
          <a:xfrm>
            <a:off x="4617720" y="19659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Useful items go unused icon" descr="Useful items go unused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3460" y="217170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7720" y="30175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Useful items go unused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617720" y="356616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Once a course ends, books and equipment pile up at home instead of reaching someone who needs them.</a:t>
            </a:r>
            <a:endParaRPr lang="en-US" sz="1600" dirty="0"/>
          </a:p>
        </p:txBody>
      </p:sp>
      <p:sp>
        <p:nvSpPr>
          <p:cNvPr id="13" name="Problem card 3"/>
          <p:cNvSpPr/>
          <p:nvPr/>
        </p:nvSpPr>
        <p:spPr>
          <a:xfrm>
            <a:off x="8046720" y="1645920"/>
            <a:ext cx="3520440" cy="356616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No trusted platform icon badge"/>
          <p:cNvSpPr/>
          <p:nvPr/>
        </p:nvSpPr>
        <p:spPr>
          <a:xfrm>
            <a:off x="8366760" y="19659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No trusted platform icon" descr="No trusted platform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217170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66760" y="30175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No trusted platform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366760" y="356616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General classifieds are cluttered and untrusted. Students lack a focused place to trade with each other.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chemeClr val="accent1"/>
                </a:solidFill>
              </a:rPr>
              <a:t>EduTrade closes this gap with a student-first marketplace.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F6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pPr algn="r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One marketplace, built for students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EduTrade lets students list what they no longer need and find what they do, all in one place.</a:t>
            </a:r>
            <a:endParaRPr lang="en-US" sz="18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Simple browsing, a clear cart and a quick sell flow keep trading easy for both sides.</a:t>
            </a:r>
            <a:endParaRPr lang="en-US" sz="1800" dirty="0"/>
          </a:p>
        </p:txBody>
      </p:sp>
      <p:sp>
        <p:nvSpPr>
          <p:cNvPr id="4" name="Tagline pill"/>
          <p:cNvSpPr/>
          <p:nvPr/>
        </p:nvSpPr>
        <p:spPr>
          <a:xfrm>
            <a:off x="548640" y="3566160"/>
            <a:ext cx="3383280" cy="7315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5661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2"/>
                </a:solidFill>
              </a:rPr>
              <a:t>Buy Smart. Sell Easy.</a:t>
            </a:r>
            <a:endParaRPr lang="en-US" sz="2200" dirty="0"/>
          </a:p>
        </p:txBody>
      </p:sp>
      <p:sp>
        <p:nvSpPr>
          <p:cNvPr id="6" name="Book Materials tile"/>
          <p:cNvSpPr/>
          <p:nvPr/>
        </p:nvSpPr>
        <p:spPr>
          <a:xfrm>
            <a:off x="6126480" y="1645920"/>
            <a:ext cx="26060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Book Materials icon badge"/>
          <p:cNvSpPr/>
          <p:nvPr/>
        </p:nvSpPr>
        <p:spPr>
          <a:xfrm>
            <a:off x="6400800" y="19202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Book Materials icon" descr="Book Materials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1031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00800" y="27432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Book Materials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400800" y="31089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Textbooks, workbooks, question banks</a:t>
            </a:r>
            <a:endParaRPr lang="en-US" sz="1400" dirty="0"/>
          </a:p>
        </p:txBody>
      </p:sp>
      <p:sp>
        <p:nvSpPr>
          <p:cNvPr id="11" name="Electronics tile"/>
          <p:cNvSpPr/>
          <p:nvPr/>
        </p:nvSpPr>
        <p:spPr>
          <a:xfrm>
            <a:off x="8961120" y="1645920"/>
            <a:ext cx="26060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Electronics icon badge"/>
          <p:cNvSpPr/>
          <p:nvPr/>
        </p:nvSpPr>
        <p:spPr>
          <a:xfrm>
            <a:off x="9235440" y="19202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Electronics icon" descr="Electronics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210312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9235440" y="27432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Electronics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9235440" y="31089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Devices and accessories</a:t>
            </a:r>
            <a:endParaRPr lang="en-US" sz="1400" dirty="0"/>
          </a:p>
        </p:txBody>
      </p:sp>
      <p:sp>
        <p:nvSpPr>
          <p:cNvPr id="16" name="Lab Equipments tile"/>
          <p:cNvSpPr/>
          <p:nvPr/>
        </p:nvSpPr>
        <p:spPr>
          <a:xfrm>
            <a:off x="6126480" y="4023360"/>
            <a:ext cx="26060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Lab Equipments icon badge"/>
          <p:cNvSpPr/>
          <p:nvPr/>
        </p:nvSpPr>
        <p:spPr>
          <a:xfrm>
            <a:off x="6400800" y="42976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Lab Equipments icon" descr="Lab Equipment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448056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00800" y="51206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Lab Equipments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6400800" y="54864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Test tubes, dissection kits</a:t>
            </a:r>
            <a:endParaRPr lang="en-US" sz="1400" dirty="0"/>
          </a:p>
        </p:txBody>
      </p:sp>
      <p:sp>
        <p:nvSpPr>
          <p:cNvPr id="21" name="Notebooks &amp; more tile"/>
          <p:cNvSpPr/>
          <p:nvPr/>
        </p:nvSpPr>
        <p:spPr>
          <a:xfrm>
            <a:off x="8961120" y="4023360"/>
            <a:ext cx="26060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2" name="Notebooks &amp; more icon badge"/>
          <p:cNvSpPr/>
          <p:nvPr/>
        </p:nvSpPr>
        <p:spPr>
          <a:xfrm>
            <a:off x="9235440" y="42976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Notebooks &amp; more icon" descr="Notebooks &amp; more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0" y="448056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235440" y="51206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Notebooks &amp; more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9235440" y="54864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Notes and study essentials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F6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pPr algn="r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Everything you need to trade</a:t>
            </a:r>
            <a:endParaRPr lang="en-US" sz="3600" dirty="0"/>
          </a:p>
        </p:txBody>
      </p:sp>
      <p:sp>
        <p:nvSpPr>
          <p:cNvPr id="3" name="Product search card"/>
          <p:cNvSpPr/>
          <p:nvPr/>
        </p:nvSpPr>
        <p:spPr>
          <a:xfrm>
            <a:off x="548640" y="160020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" name="Product search icon badge"/>
          <p:cNvSpPr/>
          <p:nvPr/>
        </p:nvSpPr>
        <p:spPr>
          <a:xfrm>
            <a:off x="822960" y="18745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Product search icon" descr="Product search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10" y="204597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8745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Product search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7432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Find any item fast from the search bar on every page.</a:t>
            </a:r>
            <a:endParaRPr lang="en-US" sz="1500" dirty="0"/>
          </a:p>
        </p:txBody>
      </p:sp>
      <p:sp>
        <p:nvSpPr>
          <p:cNvPr id="8" name="Category browsing card"/>
          <p:cNvSpPr/>
          <p:nvPr/>
        </p:nvSpPr>
        <p:spPr>
          <a:xfrm>
            <a:off x="4343400" y="160020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Category browsing icon badge"/>
          <p:cNvSpPr/>
          <p:nvPr/>
        </p:nvSpPr>
        <p:spPr>
          <a:xfrm>
            <a:off x="4617720" y="18745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Category browsing icon" descr="Category browsing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9170" y="204597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40680" y="18745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Category browsing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17720" y="27432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Jump into Books, Electronics or Lab Equipments.</a:t>
            </a:r>
            <a:endParaRPr lang="en-US" sz="1500" dirty="0"/>
          </a:p>
        </p:txBody>
      </p:sp>
      <p:sp>
        <p:nvSpPr>
          <p:cNvPr id="13" name="Wishlist card"/>
          <p:cNvSpPr/>
          <p:nvPr/>
        </p:nvSpPr>
        <p:spPr>
          <a:xfrm>
            <a:off x="8138160" y="160020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Wishlist icon badge"/>
          <p:cNvSpPr/>
          <p:nvPr/>
        </p:nvSpPr>
        <p:spPr>
          <a:xfrm>
            <a:off x="8412480" y="18745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Wishlist icon" descr="Wishlist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3930" y="2045970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235440" y="18745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Wishlist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412480" y="27432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Save products with a tap on the heart icon.</a:t>
            </a:r>
            <a:endParaRPr lang="en-US" sz="1500" dirty="0"/>
          </a:p>
        </p:txBody>
      </p:sp>
      <p:sp>
        <p:nvSpPr>
          <p:cNvPr id="18" name="Cart and Buy Now card"/>
          <p:cNvSpPr/>
          <p:nvPr/>
        </p:nvSpPr>
        <p:spPr>
          <a:xfrm>
            <a:off x="548640" y="402336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9" name="Cart and Buy Now icon badge"/>
          <p:cNvSpPr/>
          <p:nvPr/>
        </p:nvSpPr>
        <p:spPr>
          <a:xfrm>
            <a:off x="822960" y="42976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Cart and Buy Now icon" descr="Cart and Buy Now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410" y="4469130"/>
            <a:ext cx="342900" cy="3429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45920" y="42976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Cart and Buy Now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51663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Add to cart or buy instantly from any product card.</a:t>
            </a:r>
            <a:endParaRPr lang="en-US" sz="1500" dirty="0"/>
          </a:p>
        </p:txBody>
      </p:sp>
      <p:sp>
        <p:nvSpPr>
          <p:cNvPr id="23" name="Easy selling card"/>
          <p:cNvSpPr/>
          <p:nvPr/>
        </p:nvSpPr>
        <p:spPr>
          <a:xfrm>
            <a:off x="4343400" y="402336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4" name="Easy selling icon badge"/>
          <p:cNvSpPr/>
          <p:nvPr/>
        </p:nvSpPr>
        <p:spPr>
          <a:xfrm>
            <a:off x="4617720" y="42976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Easy selling icon" descr="Easy selling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9170" y="4469130"/>
            <a:ext cx="342900" cy="3429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440680" y="42976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Easy selling</a:t>
            </a:r>
            <a:endParaRPr lang="en-US" sz="2000" dirty="0"/>
          </a:p>
        </p:txBody>
      </p:sp>
      <p:sp>
        <p:nvSpPr>
          <p:cNvPr id="27" name="Text 20"/>
          <p:cNvSpPr txBox="1"/>
          <p:nvPr/>
        </p:nvSpPr>
        <p:spPr>
          <a:xfrm>
            <a:off x="4617720" y="51663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List a product with Sell New Product and manage it later.</a:t>
            </a:r>
            <a:endParaRPr lang="en-US" sz="1500" dirty="0"/>
          </a:p>
        </p:txBody>
      </p:sp>
      <p:sp>
        <p:nvSpPr>
          <p:cNvPr id="28" name="Orders and login card"/>
          <p:cNvSpPr/>
          <p:nvPr/>
        </p:nvSpPr>
        <p:spPr>
          <a:xfrm>
            <a:off x="8138160" y="402336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9" name="Orders and login icon badge"/>
          <p:cNvSpPr/>
          <p:nvPr/>
        </p:nvSpPr>
        <p:spPr>
          <a:xfrm>
            <a:off x="8412480" y="42976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Orders and login icon" descr="Orders and login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3930" y="4469130"/>
            <a:ext cx="342900" cy="3429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235440" y="42976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Orders and login</a:t>
            </a:r>
            <a:endParaRPr lang="en-US" sz="2000" dirty="0"/>
          </a:p>
        </p:txBody>
      </p:sp>
      <p:sp>
        <p:nvSpPr>
          <p:cNvPr id="32" name="Text 24"/>
          <p:cNvSpPr txBox="1"/>
          <p:nvPr/>
        </p:nvSpPr>
        <p:spPr>
          <a:xfrm>
            <a:off x="8412480" y="51663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Secure sign-in and an Orders page to follow purchases.</a:t>
            </a:r>
            <a:endParaRPr lang="en-US" sz="15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F6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pPr algn="r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Home: everything is one click away</a:t>
            </a:r>
            <a:endParaRPr lang="en-US" sz="3600" dirty="0"/>
          </a:p>
        </p:txBody>
      </p:sp>
      <p:sp>
        <p:nvSpPr>
          <p:cNvPr id="3" name="Home page screenshot frame"/>
          <p:cNvSpPr/>
          <p:nvPr/>
        </p:nvSpPr>
        <p:spPr>
          <a:xfrm>
            <a:off x="548640" y="1828800"/>
            <a:ext cx="7406640" cy="3628254"/>
          </a:xfrm>
          <a:prstGeom prst="roundRect">
            <a:avLst>
              <a:gd name="adj" fmla="val 3024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4" name="Home page screenshot" descr="Home page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65960"/>
            <a:ext cx="7132320" cy="3353934"/>
          </a:xfrm>
          <a:prstGeom prst="rect">
            <a:avLst/>
          </a:prstGeom>
        </p:spPr>
      </p:pic>
      <p:sp>
        <p:nvSpPr>
          <p:cNvPr id="5" name="Step 1 badge"/>
          <p:cNvSpPr/>
          <p:nvPr/>
        </p:nvSpPr>
        <p:spPr>
          <a:xfrm>
            <a:off x="8366760" y="16459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36676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9006840" y="162763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Navigation bar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9006840" y="210312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Search, Home, Category, Cart, Orders, Sell and Login in one place.</a:t>
            </a:r>
            <a:endParaRPr lang="en-US" sz="1400" dirty="0"/>
          </a:p>
        </p:txBody>
      </p:sp>
      <p:sp>
        <p:nvSpPr>
          <p:cNvPr id="9" name="Step 2 badge"/>
          <p:cNvSpPr/>
          <p:nvPr/>
        </p:nvSpPr>
        <p:spPr>
          <a:xfrm>
            <a:off x="8366760" y="31546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36676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9006840" y="313639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Hero banner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9006840" y="36118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clear message: the smarter way to buy and sell educational essentials.</a:t>
            </a:r>
            <a:endParaRPr lang="en-US" sz="1400" dirty="0"/>
          </a:p>
        </p:txBody>
      </p:sp>
      <p:sp>
        <p:nvSpPr>
          <p:cNvPr id="13" name="Step 3 badge"/>
          <p:cNvSpPr/>
          <p:nvPr/>
        </p:nvSpPr>
        <p:spPr>
          <a:xfrm>
            <a:off x="8366760" y="46634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36676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9006840" y="46451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Category cards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9006840" y="51206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Quick entry to Book Materials, Electronics and Lab Equipments.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F6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pPr algn="r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Browse categories and featured items</a:t>
            </a:r>
            <a:endParaRPr lang="en-US" sz="3600" dirty="0"/>
          </a:p>
        </p:txBody>
      </p:sp>
      <p:sp>
        <p:nvSpPr>
          <p:cNvPr id="3" name="Featured products screenshot frame"/>
          <p:cNvSpPr/>
          <p:nvPr/>
        </p:nvSpPr>
        <p:spPr>
          <a:xfrm>
            <a:off x="548640" y="1554480"/>
            <a:ext cx="5394960" cy="2655951"/>
          </a:xfrm>
          <a:prstGeom prst="roundRect">
            <a:avLst>
              <a:gd name="adj" fmla="val 4131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4" name="Featured products screenshot" descr="Featured products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91640"/>
            <a:ext cx="5120640" cy="2381631"/>
          </a:xfrm>
          <a:prstGeom prst="rect">
            <a:avLst/>
          </a:prstGeom>
        </p:spPr>
      </p:pic>
      <p:sp>
        <p:nvSpPr>
          <p:cNvPr id="5" name="Product grid screenshot frame"/>
          <p:cNvSpPr/>
          <p:nvPr/>
        </p:nvSpPr>
        <p:spPr>
          <a:xfrm>
            <a:off x="6245352" y="1554480"/>
            <a:ext cx="5394960" cy="2655951"/>
          </a:xfrm>
          <a:prstGeom prst="roundRect">
            <a:avLst>
              <a:gd name="adj" fmla="val 4131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6" name="Product grid screenshot" descr="Product grid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1691640"/>
            <a:ext cx="5120640" cy="238163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443484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Featured products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93776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Each card shows the item, category, price in rupees, a wishlist heart and a Buy Now button.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6245352" y="443484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Product listings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6245352" y="493776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 clean grid of titles and prices with a View More button for full details.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F6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pPr algn="r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Selling and cart management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My Products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Sellers see every listing in one place and add more with Sell New Product.</a:t>
            </a:r>
            <a:endParaRPr lang="en-US" sz="1600" dirty="0"/>
          </a:p>
        </p:txBody>
      </p:sp>
      <p:sp>
        <p:nvSpPr>
          <p:cNvPr id="5" name="My Products screenshot frame"/>
          <p:cNvSpPr/>
          <p:nvPr/>
        </p:nvSpPr>
        <p:spPr>
          <a:xfrm>
            <a:off x="548640" y="3108960"/>
            <a:ext cx="5394960" cy="2658618"/>
          </a:xfrm>
          <a:prstGeom prst="roundRect">
            <a:avLst>
              <a:gd name="adj" fmla="val 4127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6" name="My Products screenshot" descr="My Products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246120"/>
            <a:ext cx="5120640" cy="238429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245352" y="155448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Shopping Cart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6245352" y="20116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Buyers review what they have picked before they check out.</a:t>
            </a:r>
            <a:endParaRPr lang="en-US" sz="1600" dirty="0"/>
          </a:p>
        </p:txBody>
      </p:sp>
      <p:sp>
        <p:nvSpPr>
          <p:cNvPr id="9" name="Shopping Cart screenshot frame"/>
          <p:cNvSpPr/>
          <p:nvPr/>
        </p:nvSpPr>
        <p:spPr>
          <a:xfrm>
            <a:off x="6245352" y="3108960"/>
            <a:ext cx="5394960" cy="2615946"/>
          </a:xfrm>
          <a:prstGeom prst="roundRect">
            <a:avLst>
              <a:gd name="adj" fmla="val 4195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10" name="Shopping Cart screenshot" descr="Shopping Cart screensh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3246120"/>
            <a:ext cx="5120640" cy="234162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F6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pPr algn="r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How EduTrade works</a:t>
            </a:r>
            <a:endParaRPr lang="en-US" sz="3600" dirty="0"/>
          </a:p>
        </p:txBody>
      </p:sp>
      <p:sp>
        <p:nvSpPr>
          <p:cNvPr id="3" name="Buyer label"/>
          <p:cNvSpPr/>
          <p:nvPr/>
        </p:nvSpPr>
        <p:spPr>
          <a:xfrm>
            <a:off x="548640" y="1645920"/>
            <a:ext cx="1554480" cy="1828800"/>
          </a:xfrm>
          <a:prstGeom prst="roundRect">
            <a:avLst>
              <a:gd name="adj" fmla="val 7059"/>
            </a:avLst>
          </a:prstGeom>
          <a:solidFill>
            <a:schemeClr val="accent1"/>
          </a:solidFill>
          <a:ln/>
        </p:spPr>
      </p:sp>
      <p:pic>
        <p:nvPicPr>
          <p:cNvPr id="4" name="Buyer icon" descr="Buy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965960"/>
            <a:ext cx="640080" cy="640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6974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Buyer</a:t>
            </a:r>
            <a:endParaRPr lang="en-US" sz="2000" dirty="0"/>
          </a:p>
        </p:txBody>
      </p:sp>
      <p:sp>
        <p:nvSpPr>
          <p:cNvPr id="6" name="Buyer step 1"/>
          <p:cNvSpPr/>
          <p:nvPr/>
        </p:nvSpPr>
        <p:spPr>
          <a:xfrm>
            <a:off x="2377440" y="1645920"/>
            <a:ext cx="201168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Buyer step number"/>
          <p:cNvSpPr/>
          <p:nvPr/>
        </p:nvSpPr>
        <p:spPr>
          <a:xfrm>
            <a:off x="2560320" y="18288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56032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2560320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Log in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2560320" y="26974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Create an account or sign in</a:t>
            </a:r>
            <a:endParaRPr lang="en-US" sz="1400" dirty="0"/>
          </a:p>
        </p:txBody>
      </p:sp>
      <p:sp>
        <p:nvSpPr>
          <p:cNvPr id="11" name="Arrow"/>
          <p:cNvSpPr/>
          <p:nvPr/>
        </p:nvSpPr>
        <p:spPr>
          <a:xfrm>
            <a:off x="4453128" y="2423160"/>
            <a:ext cx="274320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2" name="Buyer step 2"/>
          <p:cNvSpPr/>
          <p:nvPr/>
        </p:nvSpPr>
        <p:spPr>
          <a:xfrm>
            <a:off x="4800600" y="1645920"/>
            <a:ext cx="201168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3" name="Buyer step number"/>
          <p:cNvSpPr/>
          <p:nvPr/>
        </p:nvSpPr>
        <p:spPr>
          <a:xfrm>
            <a:off x="4983480" y="18288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98348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983480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Discover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4983480" y="26974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Search or browse by category</a:t>
            </a:r>
            <a:endParaRPr lang="en-US" sz="1400" dirty="0"/>
          </a:p>
        </p:txBody>
      </p:sp>
      <p:sp>
        <p:nvSpPr>
          <p:cNvPr id="17" name="Arrow"/>
          <p:cNvSpPr/>
          <p:nvPr/>
        </p:nvSpPr>
        <p:spPr>
          <a:xfrm>
            <a:off x="6876288" y="2423160"/>
            <a:ext cx="274320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8" name="Buyer step 3"/>
          <p:cNvSpPr/>
          <p:nvPr/>
        </p:nvSpPr>
        <p:spPr>
          <a:xfrm>
            <a:off x="7223760" y="1645920"/>
            <a:ext cx="201168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9" name="Buyer step number"/>
          <p:cNvSpPr/>
          <p:nvPr/>
        </p:nvSpPr>
        <p:spPr>
          <a:xfrm>
            <a:off x="7406640" y="18288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40664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7406640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Add to cart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7406640" y="26974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Wishlist it or tap Buy Now</a:t>
            </a:r>
            <a:endParaRPr lang="en-US" sz="1400" dirty="0"/>
          </a:p>
        </p:txBody>
      </p:sp>
      <p:sp>
        <p:nvSpPr>
          <p:cNvPr id="23" name="Arrow"/>
          <p:cNvSpPr/>
          <p:nvPr/>
        </p:nvSpPr>
        <p:spPr>
          <a:xfrm>
            <a:off x="9299448" y="2423160"/>
            <a:ext cx="274320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4" name="Buyer step 4"/>
          <p:cNvSpPr/>
          <p:nvPr/>
        </p:nvSpPr>
        <p:spPr>
          <a:xfrm>
            <a:off x="9646920" y="1645920"/>
            <a:ext cx="201168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5" name="Buyer step number"/>
          <p:cNvSpPr/>
          <p:nvPr/>
        </p:nvSpPr>
        <p:spPr>
          <a:xfrm>
            <a:off x="9829800" y="18288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982980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9829800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Order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9829800" y="26974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Check out and track in Orders</a:t>
            </a:r>
            <a:endParaRPr lang="en-US" sz="1400" dirty="0"/>
          </a:p>
        </p:txBody>
      </p:sp>
      <p:sp>
        <p:nvSpPr>
          <p:cNvPr id="29" name="Seller label"/>
          <p:cNvSpPr/>
          <p:nvPr/>
        </p:nvSpPr>
        <p:spPr>
          <a:xfrm>
            <a:off x="548640" y="3931920"/>
            <a:ext cx="1554480" cy="182880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/>
        </p:spPr>
      </p:sp>
      <p:pic>
        <p:nvPicPr>
          <p:cNvPr id="30" name="Seller icon" descr="Sell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251960"/>
            <a:ext cx="640080" cy="640080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548640" y="49834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Seller</a:t>
            </a:r>
            <a:endParaRPr lang="en-US" sz="2000" dirty="0"/>
          </a:p>
        </p:txBody>
      </p:sp>
      <p:sp>
        <p:nvSpPr>
          <p:cNvPr id="32" name="Seller step 1"/>
          <p:cNvSpPr/>
          <p:nvPr/>
        </p:nvSpPr>
        <p:spPr>
          <a:xfrm>
            <a:off x="2377440" y="3931920"/>
            <a:ext cx="201168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3" name="Seller step number"/>
          <p:cNvSpPr/>
          <p:nvPr/>
        </p:nvSpPr>
        <p:spPr>
          <a:xfrm>
            <a:off x="2560320" y="41148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2560320" y="4114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endParaRPr lang="en-US" sz="1600" dirty="0"/>
          </a:p>
        </p:txBody>
      </p:sp>
      <p:sp>
        <p:nvSpPr>
          <p:cNvPr id="35" name="Text 31"/>
          <p:cNvSpPr txBox="1"/>
          <p:nvPr/>
        </p:nvSpPr>
        <p:spPr>
          <a:xfrm>
            <a:off x="2560320" y="4617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Log in</a:t>
            </a:r>
            <a:endParaRPr lang="en-US" sz="1800" dirty="0"/>
          </a:p>
        </p:txBody>
      </p:sp>
      <p:sp>
        <p:nvSpPr>
          <p:cNvPr id="36" name="Text 32"/>
          <p:cNvSpPr txBox="1"/>
          <p:nvPr/>
        </p:nvSpPr>
        <p:spPr>
          <a:xfrm>
            <a:off x="2560320" y="49834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Sign in to your account</a:t>
            </a:r>
            <a:endParaRPr lang="en-US" sz="1400" dirty="0"/>
          </a:p>
        </p:txBody>
      </p:sp>
      <p:sp>
        <p:nvSpPr>
          <p:cNvPr id="37" name="Arrow"/>
          <p:cNvSpPr/>
          <p:nvPr/>
        </p:nvSpPr>
        <p:spPr>
          <a:xfrm>
            <a:off x="4453128" y="4709160"/>
            <a:ext cx="274320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38" name="Seller step 2"/>
          <p:cNvSpPr/>
          <p:nvPr/>
        </p:nvSpPr>
        <p:spPr>
          <a:xfrm>
            <a:off x="4800600" y="3931920"/>
            <a:ext cx="201168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9" name="Seller step number"/>
          <p:cNvSpPr/>
          <p:nvPr/>
        </p:nvSpPr>
        <p:spPr>
          <a:xfrm>
            <a:off x="4983480" y="41148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0" name="Text 36"/>
          <p:cNvSpPr txBox="1"/>
          <p:nvPr/>
        </p:nvSpPr>
        <p:spPr>
          <a:xfrm>
            <a:off x="4983480" y="4114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endParaRPr lang="en-US" sz="1600" dirty="0"/>
          </a:p>
        </p:txBody>
      </p:sp>
      <p:sp>
        <p:nvSpPr>
          <p:cNvPr id="41" name="Text 37"/>
          <p:cNvSpPr txBox="1"/>
          <p:nvPr/>
        </p:nvSpPr>
        <p:spPr>
          <a:xfrm>
            <a:off x="4983480" y="4617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List</a:t>
            </a:r>
            <a:endParaRPr lang="en-US" sz="1800" dirty="0"/>
          </a:p>
        </p:txBody>
      </p:sp>
      <p:sp>
        <p:nvSpPr>
          <p:cNvPr id="42" name="Text 38"/>
          <p:cNvSpPr txBox="1"/>
          <p:nvPr/>
        </p:nvSpPr>
        <p:spPr>
          <a:xfrm>
            <a:off x="4983480" y="49834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Tap Sell and add item details</a:t>
            </a:r>
            <a:endParaRPr lang="en-US" sz="1400" dirty="0"/>
          </a:p>
        </p:txBody>
      </p:sp>
      <p:sp>
        <p:nvSpPr>
          <p:cNvPr id="43" name="Arrow"/>
          <p:cNvSpPr/>
          <p:nvPr/>
        </p:nvSpPr>
        <p:spPr>
          <a:xfrm>
            <a:off x="6876288" y="4709160"/>
            <a:ext cx="274320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44" name="Seller step 3"/>
          <p:cNvSpPr/>
          <p:nvPr/>
        </p:nvSpPr>
        <p:spPr>
          <a:xfrm>
            <a:off x="7223760" y="3931920"/>
            <a:ext cx="201168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5" name="Seller step number"/>
          <p:cNvSpPr/>
          <p:nvPr/>
        </p:nvSpPr>
        <p:spPr>
          <a:xfrm>
            <a:off x="7406640" y="41148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6" name="Text 42"/>
          <p:cNvSpPr txBox="1"/>
          <p:nvPr/>
        </p:nvSpPr>
        <p:spPr>
          <a:xfrm>
            <a:off x="7406640" y="4114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endParaRPr lang="en-US" sz="1600" dirty="0"/>
          </a:p>
        </p:txBody>
      </p:sp>
      <p:sp>
        <p:nvSpPr>
          <p:cNvPr id="47" name="Text 43"/>
          <p:cNvSpPr txBox="1"/>
          <p:nvPr/>
        </p:nvSpPr>
        <p:spPr>
          <a:xfrm>
            <a:off x="7406640" y="4617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Manage</a:t>
            </a:r>
            <a:endParaRPr lang="en-US" sz="1800" dirty="0"/>
          </a:p>
        </p:txBody>
      </p:sp>
      <p:sp>
        <p:nvSpPr>
          <p:cNvPr id="48" name="Text 44"/>
          <p:cNvSpPr txBox="1"/>
          <p:nvPr/>
        </p:nvSpPr>
        <p:spPr>
          <a:xfrm>
            <a:off x="7406640" y="49834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View all in My Products</a:t>
            </a:r>
            <a:endParaRPr lang="en-US" sz="1400" dirty="0"/>
          </a:p>
        </p:txBody>
      </p:sp>
      <p:sp>
        <p:nvSpPr>
          <p:cNvPr id="49" name="Arrow"/>
          <p:cNvSpPr/>
          <p:nvPr/>
        </p:nvSpPr>
        <p:spPr>
          <a:xfrm>
            <a:off x="9299448" y="4709160"/>
            <a:ext cx="274320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50" name="Seller step 4"/>
          <p:cNvSpPr/>
          <p:nvPr/>
        </p:nvSpPr>
        <p:spPr>
          <a:xfrm>
            <a:off x="9646920" y="3931920"/>
            <a:ext cx="201168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1" name="Seller step number"/>
          <p:cNvSpPr/>
          <p:nvPr/>
        </p:nvSpPr>
        <p:spPr>
          <a:xfrm>
            <a:off x="9829800" y="41148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2" name="Text 48"/>
          <p:cNvSpPr txBox="1"/>
          <p:nvPr/>
        </p:nvSpPr>
        <p:spPr>
          <a:xfrm>
            <a:off x="9829800" y="4114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endParaRPr lang="en-US" sz="1600" dirty="0"/>
          </a:p>
        </p:txBody>
      </p:sp>
      <p:sp>
        <p:nvSpPr>
          <p:cNvPr id="53" name="Text 49"/>
          <p:cNvSpPr txBox="1"/>
          <p:nvPr/>
        </p:nvSpPr>
        <p:spPr>
          <a:xfrm>
            <a:off x="9829800" y="4617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Sell</a:t>
            </a:r>
            <a:endParaRPr lang="en-US" sz="1800" dirty="0"/>
          </a:p>
        </p:txBody>
      </p:sp>
      <p:sp>
        <p:nvSpPr>
          <p:cNvPr id="54" name="Text 50"/>
          <p:cNvSpPr txBox="1"/>
          <p:nvPr/>
        </p:nvSpPr>
        <p:spPr>
          <a:xfrm>
            <a:off x="9829800" y="49834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Buyers find and order it</a:t>
            </a:r>
            <a:endParaRPr lang="en-US" sz="1400" dirty="0"/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F6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pPr algn="r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Why EduTrade works for everyone</a:t>
            </a:r>
            <a:endParaRPr lang="en-US" sz="3600" dirty="0"/>
          </a:p>
        </p:txBody>
      </p:sp>
      <p:sp>
        <p:nvSpPr>
          <p:cNvPr id="3" name="For buyers panel"/>
          <p:cNvSpPr/>
          <p:nvPr/>
        </p:nvSpPr>
        <p:spPr>
          <a:xfrm>
            <a:off x="548640" y="1600200"/>
            <a:ext cx="5394960" cy="4434840"/>
          </a:xfrm>
          <a:prstGeom prst="roundRect">
            <a:avLst>
              <a:gd name="adj" fmla="val 3093"/>
            </a:avLst>
          </a:prstGeom>
          <a:solidFill>
            <a:schemeClr val="tx2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" name="For buyers badge"/>
          <p:cNvSpPr/>
          <p:nvPr/>
        </p:nvSpPr>
        <p:spPr>
          <a:xfrm>
            <a:off x="960120" y="192024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For buyers glyph" descr="For buyer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860" y="21259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011680" y="19202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</a:rPr>
              <a:t>For buyers</a:t>
            </a:r>
            <a:endParaRPr lang="en-US" sz="2800" dirty="0"/>
          </a:p>
        </p:txBody>
      </p:sp>
      <p:pic>
        <p:nvPicPr>
          <p:cNvPr id="7" name="Check" descr="chec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264408"/>
            <a:ext cx="365760" cy="3657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54480" y="315468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Save money on study materials</a:t>
            </a:r>
            <a:endParaRPr lang="en-US" sz="1800" dirty="0"/>
          </a:p>
        </p:txBody>
      </p:sp>
      <p:pic>
        <p:nvPicPr>
          <p:cNvPr id="9" name="Check" descr="chec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178808"/>
            <a:ext cx="365760" cy="36576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554480" y="406908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Books, lab kits and electronics in one place</a:t>
            </a:r>
            <a:endParaRPr lang="en-US" sz="1800" dirty="0"/>
          </a:p>
        </p:txBody>
      </p:sp>
      <p:pic>
        <p:nvPicPr>
          <p:cNvPr id="11" name="Check" descr="chec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093208"/>
            <a:ext cx="365760" cy="36576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554480" y="498348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Wishlist and cart to compare before buying</a:t>
            </a:r>
            <a:endParaRPr lang="en-US" sz="1800" dirty="0"/>
          </a:p>
        </p:txBody>
      </p:sp>
      <p:sp>
        <p:nvSpPr>
          <p:cNvPr id="13" name="For sellers panel"/>
          <p:cNvSpPr/>
          <p:nvPr/>
        </p:nvSpPr>
        <p:spPr>
          <a:xfrm>
            <a:off x="6245352" y="1600200"/>
            <a:ext cx="5394960" cy="4434840"/>
          </a:xfrm>
          <a:prstGeom prst="roundRect">
            <a:avLst>
              <a:gd name="adj" fmla="val 3093"/>
            </a:avLst>
          </a:prstGeom>
          <a:solidFill>
            <a:schemeClr val="accent1"/>
          </a:solidFill>
          <a:ln/>
          <a:effectLst>
            <a:outerShdw blurRad="127000" dist="381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For sellers badge"/>
          <p:cNvSpPr/>
          <p:nvPr/>
        </p:nvSpPr>
        <p:spPr>
          <a:xfrm>
            <a:off x="6656832" y="192024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For sellers glyph" descr="For seller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2572" y="2125980"/>
            <a:ext cx="411480" cy="41148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7708392" y="19202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</a:rPr>
              <a:t>For sellers</a:t>
            </a:r>
            <a:endParaRPr lang="en-US" sz="2800" dirty="0"/>
          </a:p>
        </p:txBody>
      </p:sp>
      <p:pic>
        <p:nvPicPr>
          <p:cNvPr id="17" name="Check" descr="chec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3264408"/>
            <a:ext cx="365760" cy="365760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7251192" y="315468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Turn unused items into cash</a:t>
            </a:r>
            <a:endParaRPr lang="en-US" sz="1800" dirty="0"/>
          </a:p>
        </p:txBody>
      </p:sp>
      <p:pic>
        <p:nvPicPr>
          <p:cNvPr id="19" name="Check" descr="chec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4178808"/>
            <a:ext cx="365760" cy="365760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7251192" y="406908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List a product in a few clicks</a:t>
            </a:r>
            <a:endParaRPr lang="en-US" sz="1800" dirty="0"/>
          </a:p>
        </p:txBody>
      </p:sp>
      <p:pic>
        <p:nvPicPr>
          <p:cNvPr id="21" name="Check" descr="chec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5093208"/>
            <a:ext cx="365760" cy="365760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7251192" y="498348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Reach fellow students who need it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F6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pPr algn="r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What's next for EduTrade</a:t>
            </a:r>
            <a:endParaRPr lang="en-US" sz="3600" dirty="0"/>
          </a:p>
        </p:txBody>
      </p:sp>
      <p:sp>
        <p:nvSpPr>
          <p:cNvPr id="3" name="Secure online payments icon badge"/>
          <p:cNvSpPr/>
          <p:nvPr/>
        </p:nvSpPr>
        <p:spPr>
          <a:xfrm>
            <a:off x="548640" y="17373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Secure online payments icon" descr="Secure online payments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1943100"/>
            <a:ext cx="411480" cy="411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45920" y="16916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Secure online payments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645920" y="21945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Integrate a payment gateway for safe checkout.</a:t>
            </a:r>
            <a:endParaRPr lang="en-US" sz="1600" dirty="0"/>
          </a:p>
        </p:txBody>
      </p:sp>
      <p:sp>
        <p:nvSpPr>
          <p:cNvPr id="7" name="Buyer–seller chat icon badge"/>
          <p:cNvSpPr/>
          <p:nvPr/>
        </p:nvSpPr>
        <p:spPr>
          <a:xfrm>
            <a:off x="6263640" y="173736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Buyer–seller chat icon" descr="Buyer–seller chat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9380" y="1943100"/>
            <a:ext cx="411480" cy="4114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360920" y="16916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Buyer–seller chat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7360920" y="21945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Negotiate and arrange pickup inside the app.</a:t>
            </a:r>
            <a:endParaRPr lang="en-US" sz="1600" dirty="0"/>
          </a:p>
        </p:txBody>
      </p:sp>
      <p:sp>
        <p:nvSpPr>
          <p:cNvPr id="11" name="Ratings and reviews icon badge"/>
          <p:cNvSpPr/>
          <p:nvPr/>
        </p:nvSpPr>
        <p:spPr>
          <a:xfrm>
            <a:off x="548640" y="320040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Ratings and reviews icon" descr="Ratings and review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" y="340614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645920" y="31546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Ratings and reviews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1645920" y="36576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Build trust with seller and product feedback.</a:t>
            </a:r>
            <a:endParaRPr lang="en-US" sz="1600" dirty="0"/>
          </a:p>
        </p:txBody>
      </p:sp>
      <p:sp>
        <p:nvSpPr>
          <p:cNvPr id="15" name="Campus-based listings icon badge"/>
          <p:cNvSpPr/>
          <p:nvPr/>
        </p:nvSpPr>
        <p:spPr>
          <a:xfrm>
            <a:off x="6263640" y="320040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Campus-based listings icon" descr="Campus-based listings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9380" y="340614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360920" y="31546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Campus-based listings</a:t>
            </a:r>
            <a:endParaRPr lang="en-US" sz="2000" dirty="0"/>
          </a:p>
        </p:txBody>
      </p:sp>
      <p:sp>
        <p:nvSpPr>
          <p:cNvPr id="18" name="Text 12"/>
          <p:cNvSpPr txBox="1"/>
          <p:nvPr/>
        </p:nvSpPr>
        <p:spPr>
          <a:xfrm>
            <a:off x="7360920" y="36576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Filter by college to exchange items locally.</a:t>
            </a:r>
            <a:endParaRPr lang="en-US" sz="1600" dirty="0"/>
          </a:p>
        </p:txBody>
      </p:sp>
      <p:sp>
        <p:nvSpPr>
          <p:cNvPr id="19" name="Mobile app icon badge"/>
          <p:cNvSpPr/>
          <p:nvPr/>
        </p:nvSpPr>
        <p:spPr>
          <a:xfrm>
            <a:off x="548640" y="46634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Mobile app icon" descr="Mobile app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380" y="4869180"/>
            <a:ext cx="411480" cy="41148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645920" y="46177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Mobile app</a:t>
            </a:r>
            <a:endParaRPr lang="en-US" sz="2000" dirty="0"/>
          </a:p>
        </p:txBody>
      </p:sp>
      <p:sp>
        <p:nvSpPr>
          <p:cNvPr id="22" name="Text 15"/>
          <p:cNvSpPr txBox="1"/>
          <p:nvPr/>
        </p:nvSpPr>
        <p:spPr>
          <a:xfrm>
            <a:off x="1645920" y="51206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Android and iOS access for trading on the go.</a:t>
            </a:r>
            <a:endParaRPr lang="en-US" sz="1600" dirty="0"/>
          </a:p>
        </p:txBody>
      </p:sp>
      <p:sp>
        <p:nvSpPr>
          <p:cNvPr id="23" name="Smart price suggestions icon badge"/>
          <p:cNvSpPr/>
          <p:nvPr/>
        </p:nvSpPr>
        <p:spPr>
          <a:xfrm>
            <a:off x="6263640" y="46634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Smart price suggestions icon" descr="Smart price suggestions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9380" y="4869180"/>
            <a:ext cx="411480" cy="41148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7360920" y="46177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Smart price suggestions</a:t>
            </a:r>
            <a:endParaRPr lang="en-US" sz="2000" dirty="0"/>
          </a:p>
        </p:txBody>
      </p:sp>
      <p:sp>
        <p:nvSpPr>
          <p:cNvPr id="26" name="Text 18"/>
          <p:cNvSpPr txBox="1"/>
          <p:nvPr/>
        </p:nvSpPr>
        <p:spPr>
          <a:xfrm>
            <a:off x="7360920" y="51206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Recommend fair resale prices from past listings.</a:t>
            </a:r>
            <a:endParaRPr lang="en-US" sz="16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E6F6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pPr algn="r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EduTrad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236" y="1097280"/>
            <a:ext cx="3840480" cy="947220"/>
          </a:xfrm>
          <a:prstGeom prst="rect">
            <a:avLst/>
          </a:prstGeom>
        </p:spPr>
      </p:pic>
      <p:sp>
        <p:nvSpPr>
          <p:cNvPr id="3" name="Text 1"/>
          <p:cNvSpPr>
            <a:spLocks noGrp="1"/>
          </p:cNvSpPr>
          <p:nvPr>
            <p:ph type="title" idx="101"/>
          </p:nvPr>
        </p:nvSpPr>
        <p:spPr>
          <a:xfrm>
            <a:off x="640080" y="27432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chemeClr val="bg1"/>
                </a:solidFill>
              </a:rPr>
              <a:t>Thank you</a:t>
            </a:r>
            <a:endParaRPr lang="en-US" sz="5400" dirty="0"/>
          </a:p>
        </p:txBody>
      </p:sp>
      <p:sp>
        <p:nvSpPr>
          <p:cNvPr id="4" name="Text 1"/>
          <p:cNvSpPr>
            <a:spLocks noGrp="1"/>
          </p:cNvSpPr>
          <p:nvPr>
            <p:ph type="body" idx="102"/>
          </p:nvPr>
        </p:nvSpPr>
        <p:spPr>
          <a:xfrm>
            <a:off x="640080" y="40233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accent2"/>
                </a:solidFill>
              </a:rPr>
              <a:t>Questions and feedback are welcome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Trade">
  <a:themeElements>
    <a:clrScheme name="EduTrade">
      <a:dk1>
        <a:srgbClr val="10261A"/>
      </a:dk1>
      <a:lt1>
        <a:srgbClr val="FFFFFF"/>
      </a:lt1>
      <a:dk2>
        <a:srgbClr val="0A3A6E"/>
      </a:dk2>
      <a:lt2>
        <a:srgbClr val="F1F7EF"/>
      </a:lt2>
      <a:accent1>
        <a:srgbClr val="2F9E27"/>
      </a:accent1>
      <a:accent2>
        <a:srgbClr val="FFE347"/>
      </a:accent2>
      <a:accent3>
        <a:srgbClr val="0A3A6E"/>
      </a:accent3>
      <a:accent4>
        <a:srgbClr val="F5A300"/>
      </a:accent4>
      <a:accent5>
        <a:srgbClr val="5E6F63"/>
      </a:accent5>
      <a:accent6>
        <a:srgbClr val="7A3FD1"/>
      </a:accent6>
      <a:hlink>
        <a:srgbClr val="0A3A6E"/>
      </a:hlink>
      <a:folHlink>
        <a:srgbClr val="5E6F63"/>
      </a:folHlink>
    </a:clrScheme>
    <a:fontScheme name="EduTrad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757</Words>
  <Application>Microsoft Office PowerPoint</Application>
  <PresentationFormat>Custom</PresentationFormat>
  <Paragraphs>138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EduTrade</vt:lpstr>
      <vt:lpstr>A Student E-Commerce Platform</vt:lpstr>
      <vt:lpstr>Why students need a better way</vt:lpstr>
      <vt:lpstr>One marketplace, built for students</vt:lpstr>
      <vt:lpstr>Everything you need to trade</vt:lpstr>
      <vt:lpstr>Home: everything is one click away</vt:lpstr>
      <vt:lpstr>Browse categories and featured items</vt:lpstr>
      <vt:lpstr>Selling and cart management</vt:lpstr>
      <vt:lpstr>How EduTrade works</vt:lpstr>
      <vt:lpstr>Why EduTrade works for everyone</vt:lpstr>
      <vt:lpstr>What's next for EduTrade</vt:lpstr>
      <vt:lpstr>Thank you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EduTrade – Student E-Commerce Platform</dc:title>
  <dc:subject>PptxGenJS Presentation</dc:subject>
  <dc:creator>EduTrade</dc:creator>
  <cp:lastModifiedBy>HP</cp:lastModifiedBy>
  <cp:revision>2</cp:revision>
  <dcterms:created xsi:type="dcterms:W3CDTF">2026-10-26T15:31:32Z</dcterms:created>
  <dcterms:modified xsi:type="dcterms:W3CDTF">2026-10-27T05:15:34Z</dcterms:modified>
</cp:coreProperties>
</file>